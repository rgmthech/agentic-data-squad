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348ed42-05e8-8400-8844-b246fdc9bf2d}">
          <p14:sldIdLst>
            <p14:sldId id="256"/>
          </p14:sldIdLst>
        </p14:section>
        <p14:section name="Conceito" id="{e584bc69-c526-bd21-32e7-8567f79c1723}">
          <p14:sldIdLst>
            <p14:sldId id="257"/>
            <p14:sldId id="258"/>
          </p14:sldIdLst>
        </p14:section>
        <p14:section name="Squad" id="{d4622363-3485-314f-d702-528e9960cec1}">
          <p14:sldIdLst>
            <p14:sldId id="259"/>
            <p14:sldId id="260"/>
          </p14:sldIdLst>
        </p14:section>
        <p14:section name="Fluxo e Harness" id="{6a1ea5b7-3449-00eb-90ca-d92edfb9469f}">
          <p14:sldIdLst>
            <p14:sldId id="261"/>
            <p14:sldId id="262"/>
            <p14:sldId id="263"/>
          </p14:sldIdLst>
        </p14:section>
        <p14:section name="Exemplo" id="{e32d248e-6eeb-4219-0a2d-a8f6ac0267fc}">
          <p14:sldIdLst>
            <p14:sldId id="264"/>
          </p14:sldIdLst>
        </p14:section>
        <p14:section name="Implantação" id="{aa350223-2b32-ec4d-f709-4ee65299a84c}">
          <p14:sldIdLst>
            <p14:sldId id="265"/>
            <p14:sldId id="266"/>
          </p14:sldIdLst>
        </p14:section>
        <p14:section name="Encerramento" id="{f194c3db-28ab-c694-e3b1-f0f955abb9f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 proposta: um único humano comandando uma squad inteira de agentes que desenvolve processos de Data Analytics, do requisito ao painel.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 principal em três ideias. O que torna isso viável não é supervisão humana constante, mas specs que funcionam como contrato e um harness que bloqueia o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Operador é PO e arquiteto-chefe. Atenção concentrada nos gates. Os tempos são referência para features de porte médio e caem à medida que o harness amadurece.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agente é um arquivo em .claude/agents com prompt, skills e lista de ferramentas permitidas. O Revisor, por exemplo, não tem permissão de edição.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mesma lógica de controles internos: separação entre quem faz, quem testa e quem revisa. Isso reduz o risco de um agente validar o próprio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Gates em amarelo são os únicos pontos de intervenção humana. Entre G2 e G3, ingestão, transformação e BI rodam em paralelo, cada um na sua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de virada: quando o humano corrige algo, a correção não vai só para o código, vira regra no AGENTS.md, numa skill, num template ou num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real do template: o hook PostToolUse roda os validadores a cada arquivo editado pelo agente. Saída com código 2 devolve o erro para o agente corrigir.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000 do repositório. SQL ANSI executado em DuckDB no CI, comparado com o resultado esperado e com as checagens do contrato (unicidade, not null, domínio, PII fora da gold).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 de piloto: uma frente com convenções já decididas, por exemplo o Data Lake da Serasa, onde catálogos por domínio e naming padronizado viram regras de harness quase prontas.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métricas mostram se o harness está amadurecendo: lead time e retrabalho devem cair e a aprovação de primeira deve subir a cada fase.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com a decisão pedida: escolher a frente piloto. O repositório já tem tudo para começar a fase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_ESCURA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NTT DATA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28800"/>
            <a:ext cx="86868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8686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NTT DATA  |  Data &amp; AI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ERRAMENTO_ESCURO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NTT DATA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8288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Squad Agêntica de Data Analytics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7490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Um humano, nove agentes, três gates — Spec-Driven Development + Harness Engineering</a:t>
            </a:r>
            <a:endParaRPr lang="en-US" sz="2000" dirty="0"/>
          </a:p>
        </p:txBody>
      </p:sp>
      <p:sp>
        <p:nvSpPr>
          <p:cNvPr id="4" name="Operador círculo"/>
          <p:cNvSpPr/>
          <p:nvPr/>
        </p:nvSpPr>
        <p:spPr>
          <a:xfrm>
            <a:off x="9829800" y="2148840"/>
            <a:ext cx="1371600" cy="137160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5" name="Operador ícone" descr="Oper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0" y="2491740"/>
            <a:ext cx="685800" cy="685800"/>
          </a:xfrm>
          <a:prstGeom prst="rect">
            <a:avLst/>
          </a:prstGeom>
        </p:spPr>
      </p:pic>
      <p:sp>
        <p:nvSpPr>
          <p:cNvPr id="6" name="Agente FaClipboardList círculo"/>
          <p:cNvSpPr/>
          <p:nvPr/>
        </p:nvSpPr>
        <p:spPr>
          <a:xfrm>
            <a:off x="9235440" y="3886200"/>
            <a:ext cx="640080" cy="64008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7" name="Agente FaClipboardList ícone" descr="Agente FaClipboard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460" y="4046220"/>
            <a:ext cx="320040" cy="320040"/>
          </a:xfrm>
          <a:prstGeom prst="rect">
            <a:avLst/>
          </a:prstGeom>
        </p:spPr>
      </p:pic>
      <p:sp>
        <p:nvSpPr>
          <p:cNvPr id="8" name="Agente FaCogs círculo"/>
          <p:cNvSpPr/>
          <p:nvPr/>
        </p:nvSpPr>
        <p:spPr>
          <a:xfrm>
            <a:off x="10058400" y="4206240"/>
            <a:ext cx="640080" cy="64008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9" name="Agente FaCogs ícone" descr="Agente FaCo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8420" y="4366260"/>
            <a:ext cx="320040" cy="320040"/>
          </a:xfrm>
          <a:prstGeom prst="rect">
            <a:avLst/>
          </a:prstGeom>
        </p:spPr>
      </p:pic>
      <p:sp>
        <p:nvSpPr>
          <p:cNvPr id="10" name="Agente FaVial círculo"/>
          <p:cNvSpPr/>
          <p:nvPr/>
        </p:nvSpPr>
        <p:spPr>
          <a:xfrm>
            <a:off x="10881360" y="3886200"/>
            <a:ext cx="640080" cy="64008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11" name="Agente FaVial ícone" descr="Agente FaVi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1380" y="4046220"/>
            <a:ext cx="320040" cy="320040"/>
          </a:xfrm>
          <a:prstGeom prst="rect">
            <a:avLst/>
          </a:prstGeom>
        </p:spPr>
      </p:pic>
      <p:sp>
        <p:nvSpPr>
          <p:cNvPr id="12" name="Agente FaChartBar círculo"/>
          <p:cNvSpPr/>
          <p:nvPr/>
        </p:nvSpPr>
        <p:spPr>
          <a:xfrm>
            <a:off x="10972800" y="1417320"/>
            <a:ext cx="640080" cy="64008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13" name="Agente FaChartBar ícone" descr="Agente FaChartB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2820" y="1577340"/>
            <a:ext cx="320040" cy="320040"/>
          </a:xfrm>
          <a:prstGeom prst="rect">
            <a:avLst/>
          </a:prstGeom>
        </p:spPr>
      </p:pic>
      <p:sp>
        <p:nvSpPr>
          <p:cNvPr id="14" name="Agente FaDatabase círculo"/>
          <p:cNvSpPr/>
          <p:nvPr/>
        </p:nvSpPr>
        <p:spPr>
          <a:xfrm>
            <a:off x="9144000" y="1417320"/>
            <a:ext cx="640080" cy="64008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15" name="Agente FaDatabase ícone" descr="Agente FaDataba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4020" y="1577340"/>
            <a:ext cx="320040" cy="32004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548640" y="5303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Rodrigo  ·  Project Leader, Data &amp; AI  ·  Outubro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 humano deixa de escrever código e passa a ser dono da intenção</a:t>
            </a:r>
            <a:endParaRPr lang="en-US" sz="2800" dirty="0"/>
          </a:p>
        </p:txBody>
      </p:sp>
      <p:sp>
        <p:nvSpPr>
          <p:cNvPr id="3" name="Pilar 1"/>
          <p:cNvSpPr/>
          <p:nvPr/>
        </p:nvSpPr>
        <p:spPr>
          <a:xfrm>
            <a:off x="548640" y="16002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EF3F9"/>
          </a:solidFill>
          <a:ln/>
        </p:spPr>
      </p:sp>
      <p:sp>
        <p:nvSpPr>
          <p:cNvPr id="4" name="Humano dono da intenção círculo"/>
          <p:cNvSpPr/>
          <p:nvPr/>
        </p:nvSpPr>
        <p:spPr>
          <a:xfrm>
            <a:off x="914400" y="2011680"/>
            <a:ext cx="914400" cy="91440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5" name="Humano dono da intenção ícone" descr="Humano dono da inten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40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004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Humano dono da intenção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Define o problema, as métricas e as regras de negócio. Aprova em três gates fixos, sem revisar linha a linha.</a:t>
            </a:r>
            <a:endParaRPr lang="en-US" sz="1500" dirty="0"/>
          </a:p>
        </p:txBody>
      </p:sp>
      <p:sp>
        <p:nvSpPr>
          <p:cNvPr id="8" name="Pilar 2"/>
          <p:cNvSpPr/>
          <p:nvPr/>
        </p:nvSpPr>
        <p:spPr>
          <a:xfrm>
            <a:off x="4343400" y="16002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EF3F9"/>
          </a:solidFill>
          <a:ln/>
        </p:spPr>
      </p:sp>
      <p:sp>
        <p:nvSpPr>
          <p:cNvPr id="9" name="Specs como contrato círculo"/>
          <p:cNvSpPr/>
          <p:nvPr/>
        </p:nvSpPr>
        <p:spPr>
          <a:xfrm>
            <a:off x="4709160" y="2011680"/>
            <a:ext cx="914400" cy="91440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10" name="Specs como contrato ícone" descr="Specs como contra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2402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09160" y="32004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Specs como contrato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397764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Nada é implementado sem spec e design aprovados. Mudança de escopo volta para a spec, nunca é "ajustada no código".</a:t>
            </a:r>
            <a:endParaRPr lang="en-US" sz="1500" dirty="0"/>
          </a:p>
        </p:txBody>
      </p:sp>
      <p:sp>
        <p:nvSpPr>
          <p:cNvPr id="13" name="Pilar 3"/>
          <p:cNvSpPr/>
          <p:nvPr/>
        </p:nvSpPr>
        <p:spPr>
          <a:xfrm>
            <a:off x="8138160" y="16002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EF3F9"/>
          </a:solidFill>
          <a:ln/>
        </p:spPr>
      </p:sp>
      <p:sp>
        <p:nvSpPr>
          <p:cNvPr id="14" name="Harness impede o erro círculo"/>
          <p:cNvSpPr/>
          <p:nvPr/>
        </p:nvSpPr>
        <p:spPr>
          <a:xfrm>
            <a:off x="8503920" y="2011680"/>
            <a:ext cx="914400" cy="91440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5" name="Harness impede o erro ícone" descr="Harness impede o err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2402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03920" y="32004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Harness impede o erro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8503920" y="397764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Validadores, testes e permissões bloqueiam automaticamente o que foge do padrão. Cada erro vira uma regra permanente.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 Operador atua só onde o julgamento humano é insubstituível</a:t>
            </a:r>
            <a:endParaRPr lang="en-US" sz="2800" dirty="0"/>
          </a:p>
        </p:txBody>
      </p:sp>
      <p:sp>
        <p:nvSpPr>
          <p:cNvPr id="3" name="Gate G1"/>
          <p:cNvSpPr/>
          <p:nvPr/>
        </p:nvSpPr>
        <p:spPr>
          <a:xfrm>
            <a:off x="548640" y="1554480"/>
            <a:ext cx="6766560" cy="1234440"/>
          </a:xfrm>
          <a:prstGeom prst="roundRect">
            <a:avLst>
              <a:gd name="adj" fmla="val 8889"/>
            </a:avLst>
          </a:prstGeom>
          <a:solidFill>
            <a:srgbClr val="EEF3F9"/>
          </a:solidFill>
          <a:ln/>
        </p:spPr>
      </p:sp>
      <p:sp>
        <p:nvSpPr>
          <p:cNvPr id="4" name="Selo G1"/>
          <p:cNvSpPr/>
          <p:nvPr/>
        </p:nvSpPr>
        <p:spPr>
          <a:xfrm>
            <a:off x="777240" y="1755648"/>
            <a:ext cx="822960" cy="82296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556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69164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Spec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Regras, métricas e critérios de aceite corretos; zero dúvidas abertas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69164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15–30 min</a:t>
            </a:r>
            <a:endParaRPr lang="en-US" sz="1500" dirty="0"/>
          </a:p>
        </p:txBody>
      </p:sp>
      <p:sp>
        <p:nvSpPr>
          <p:cNvPr id="8" name="Gate G2"/>
          <p:cNvSpPr/>
          <p:nvPr/>
        </p:nvSpPr>
        <p:spPr>
          <a:xfrm>
            <a:off x="548640" y="3017520"/>
            <a:ext cx="6766560" cy="1234440"/>
          </a:xfrm>
          <a:prstGeom prst="roundRect">
            <a:avLst>
              <a:gd name="adj" fmla="val 8889"/>
            </a:avLst>
          </a:prstGeom>
          <a:solidFill>
            <a:srgbClr val="EEF3F9"/>
          </a:solidFill>
          <a:ln/>
        </p:spPr>
      </p:sp>
      <p:sp>
        <p:nvSpPr>
          <p:cNvPr id="9" name="Selo G2"/>
          <p:cNvSpPr/>
          <p:nvPr/>
        </p:nvSpPr>
        <p:spPr>
          <a:xfrm>
            <a:off x="777240" y="3218688"/>
            <a:ext cx="822960" cy="82296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21868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15468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Design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Modelo, contratos, PII mapeada e custo aceitável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315468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15–30 min</a:t>
            </a:r>
            <a:endParaRPr lang="en-US" sz="1500" dirty="0"/>
          </a:p>
        </p:txBody>
      </p:sp>
      <p:sp>
        <p:nvSpPr>
          <p:cNvPr id="13" name="Gate G3"/>
          <p:cNvSpPr/>
          <p:nvPr/>
        </p:nvSpPr>
        <p:spPr>
          <a:xfrm>
            <a:off x="548640" y="4480560"/>
            <a:ext cx="6766560" cy="1234440"/>
          </a:xfrm>
          <a:prstGeom prst="roundRect">
            <a:avLst>
              <a:gd name="adj" fmla="val 8889"/>
            </a:avLst>
          </a:prstGeom>
          <a:solidFill>
            <a:srgbClr val="EEF3F9"/>
          </a:solidFill>
          <a:ln/>
        </p:spPr>
      </p:sp>
      <p:sp>
        <p:nvSpPr>
          <p:cNvPr id="14" name="Selo G3"/>
          <p:cNvSpPr/>
          <p:nvPr/>
        </p:nvSpPr>
        <p:spPr>
          <a:xfrm>
            <a:off x="777240" y="4681728"/>
            <a:ext cx="822960" cy="82296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6817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46177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Produção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CI verde, QA aprovado e Revisor sem bloqueios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461772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10–20 min</a:t>
            </a:r>
            <a:endParaRPr lang="en-US" sz="1500" dirty="0"/>
          </a:p>
        </p:txBody>
      </p:sp>
      <p:sp>
        <p:nvSpPr>
          <p:cNvPr id="18" name="Destaque tempo"/>
          <p:cNvSpPr/>
          <p:nvPr/>
        </p:nvSpPr>
        <p:spPr>
          <a:xfrm>
            <a:off x="7772400" y="155448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070F2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138160" y="1920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3"/>
                </a:solidFill>
              </a:rPr>
              <a:t>~1h</a:t>
            </a:r>
            <a:endParaRPr lang="en-US" sz="66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3154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de atenção humana por feature, concentrada nos três gates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O resto do tempo: transformar cada correção em regra do harness, para que o mesmo erro nunca aconteça duas vezes.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Nove agentes especializados, cada um com escopo e ferramentas restritos</a:t>
            </a:r>
            <a:endParaRPr lang="en-US" sz="2800" dirty="0"/>
          </a:p>
        </p:txBody>
      </p:sp>
      <p:sp>
        <p:nvSpPr>
          <p:cNvPr id="3" name="Agente Orquestrador"/>
          <p:cNvSpPr/>
          <p:nvPr/>
        </p:nvSpPr>
        <p:spPr>
          <a:xfrm>
            <a:off x="548640" y="146304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/>
        </p:spPr>
      </p:sp>
      <p:sp>
        <p:nvSpPr>
          <p:cNvPr id="4" name="Orquestrador círculo"/>
          <p:cNvSpPr/>
          <p:nvPr/>
        </p:nvSpPr>
        <p:spPr>
          <a:xfrm>
            <a:off x="777240" y="1764792"/>
            <a:ext cx="777240" cy="77724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5" name="Orquestrador ícone" descr="Orquestr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959102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Orquestrador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Quebra a spec em tarefas, distribui e abre o PR</a:t>
            </a:r>
            <a:endParaRPr lang="en-US" sz="1600" dirty="0"/>
          </a:p>
        </p:txBody>
      </p:sp>
      <p:sp>
        <p:nvSpPr>
          <p:cNvPr id="7" name="Agente Analista de Requisitos"/>
          <p:cNvSpPr/>
          <p:nvPr/>
        </p:nvSpPr>
        <p:spPr>
          <a:xfrm>
            <a:off x="4297680" y="146304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/>
        </p:spPr>
      </p:sp>
      <p:sp>
        <p:nvSpPr>
          <p:cNvPr id="8" name="Analista de Requisitos círculo"/>
          <p:cNvSpPr/>
          <p:nvPr/>
        </p:nvSpPr>
        <p:spPr>
          <a:xfrm>
            <a:off x="4526280" y="1764792"/>
            <a:ext cx="777240" cy="77724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9" name="Analista de Requisitos ícone" descr="Analista de Requisit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590" y="1959102"/>
            <a:ext cx="388620" cy="3886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0" y="16002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Analista de Requisitos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Transforma o pedido em spec formal e levanta dúvidas</a:t>
            </a:r>
            <a:endParaRPr lang="en-US" sz="1600" dirty="0"/>
          </a:p>
        </p:txBody>
      </p:sp>
      <p:sp>
        <p:nvSpPr>
          <p:cNvPr id="11" name="Agente Arquiteto de Dados"/>
          <p:cNvSpPr/>
          <p:nvPr/>
        </p:nvSpPr>
        <p:spPr>
          <a:xfrm>
            <a:off x="8046720" y="146304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/>
        </p:spPr>
      </p:sp>
      <p:sp>
        <p:nvSpPr>
          <p:cNvPr id="12" name="Arquiteto de Dados círculo"/>
          <p:cNvSpPr/>
          <p:nvPr/>
        </p:nvSpPr>
        <p:spPr>
          <a:xfrm>
            <a:off x="8275320" y="1764792"/>
            <a:ext cx="777240" cy="77724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13" name="Arquiteto de Dados ícone" descr="Arquiteto de Dad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630" y="1959102"/>
            <a:ext cx="388620" cy="3886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235440" y="16002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Arquiteto de Dados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Modelagem medallion, contratos, PII e custo</a:t>
            </a:r>
            <a:endParaRPr lang="en-US" sz="1600" dirty="0"/>
          </a:p>
        </p:txBody>
      </p:sp>
      <p:sp>
        <p:nvSpPr>
          <p:cNvPr id="15" name="Agente Eng. de Ingestão"/>
          <p:cNvSpPr/>
          <p:nvPr/>
        </p:nvSpPr>
        <p:spPr>
          <a:xfrm>
            <a:off x="548640" y="301752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/>
        </p:spPr>
      </p:sp>
      <p:sp>
        <p:nvSpPr>
          <p:cNvPr id="16" name="Eng. de Ingestão círculo"/>
          <p:cNvSpPr/>
          <p:nvPr/>
        </p:nvSpPr>
        <p:spPr>
          <a:xfrm>
            <a:off x="777240" y="3319272"/>
            <a:ext cx="777240" cy="77724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17" name="Eng. de Ingestão ícone" descr="Eng. de Ingestã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3513582"/>
            <a:ext cx="388620" cy="3886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737360" y="31546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Eng. de Ingestão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Pipelines da bronze, idempotentes</a:t>
            </a:r>
            <a:endParaRPr lang="en-US" sz="1600" dirty="0"/>
          </a:p>
        </p:txBody>
      </p:sp>
      <p:sp>
        <p:nvSpPr>
          <p:cNvPr id="19" name="Agente Eng. de Transformação"/>
          <p:cNvSpPr/>
          <p:nvPr/>
        </p:nvSpPr>
        <p:spPr>
          <a:xfrm>
            <a:off x="4297680" y="301752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/>
        </p:spPr>
      </p:sp>
      <p:sp>
        <p:nvSpPr>
          <p:cNvPr id="20" name="Eng. de Transformação círculo"/>
          <p:cNvSpPr/>
          <p:nvPr/>
        </p:nvSpPr>
        <p:spPr>
          <a:xfrm>
            <a:off x="4526280" y="3319272"/>
            <a:ext cx="777240" cy="77724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21" name="Eng. de Transformação ícone" descr="Eng. de Transformaçã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590" y="3513582"/>
            <a:ext cx="388620" cy="3886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486400" y="31546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Eng. de Transformação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Silver e gold com as regras da spec</a:t>
            </a:r>
            <a:endParaRPr lang="en-US" sz="1600" dirty="0"/>
          </a:p>
        </p:txBody>
      </p:sp>
      <p:sp>
        <p:nvSpPr>
          <p:cNvPr id="23" name="Agente QA / Data Quality"/>
          <p:cNvSpPr/>
          <p:nvPr/>
        </p:nvSpPr>
        <p:spPr>
          <a:xfrm>
            <a:off x="8046720" y="301752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/>
        </p:spPr>
      </p:sp>
      <p:sp>
        <p:nvSpPr>
          <p:cNvPr id="24" name="QA / Data Quality círculo"/>
          <p:cNvSpPr/>
          <p:nvPr/>
        </p:nvSpPr>
        <p:spPr>
          <a:xfrm>
            <a:off x="8275320" y="3319272"/>
            <a:ext cx="777240" cy="77724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25" name="QA / Data Quality ícone" descr="QA / Data Qualit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9630" y="3513582"/>
            <a:ext cx="388620" cy="3886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235440" y="31546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QA / Data Quality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Testes, reconciliação e casos de ouro</a:t>
            </a:r>
            <a:endParaRPr lang="en-US" sz="1600" dirty="0"/>
          </a:p>
        </p:txBody>
      </p:sp>
      <p:sp>
        <p:nvSpPr>
          <p:cNvPr id="27" name="Agente Analytics / BI"/>
          <p:cNvSpPr/>
          <p:nvPr/>
        </p:nvSpPr>
        <p:spPr>
          <a:xfrm>
            <a:off x="548640" y="457200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/>
        </p:spPr>
      </p:sp>
      <p:sp>
        <p:nvSpPr>
          <p:cNvPr id="28" name="Analytics / BI círculo"/>
          <p:cNvSpPr/>
          <p:nvPr/>
        </p:nvSpPr>
        <p:spPr>
          <a:xfrm>
            <a:off x="777240" y="4873752"/>
            <a:ext cx="777240" cy="77724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29" name="Analytics / BI ícone" descr="Analytics / BI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" y="5068062"/>
            <a:ext cx="388620" cy="38862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737360" y="47091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Analytics / BI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Camada semântica, métricas e painéis</a:t>
            </a:r>
            <a:endParaRPr lang="en-US" sz="1600" dirty="0"/>
          </a:p>
        </p:txBody>
      </p:sp>
      <p:sp>
        <p:nvSpPr>
          <p:cNvPr id="31" name="Agente Revisor"/>
          <p:cNvSpPr/>
          <p:nvPr/>
        </p:nvSpPr>
        <p:spPr>
          <a:xfrm>
            <a:off x="4297680" y="457200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/>
        </p:spPr>
      </p:sp>
      <p:sp>
        <p:nvSpPr>
          <p:cNvPr id="32" name="Revisor círculo"/>
          <p:cNvSpPr/>
          <p:nvPr/>
        </p:nvSpPr>
        <p:spPr>
          <a:xfrm>
            <a:off x="4526280" y="4873752"/>
            <a:ext cx="777240" cy="77724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33" name="Revisor ícone" descr="Reviso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0590" y="5068062"/>
            <a:ext cx="388620" cy="38862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486400" y="47091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Revisor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Somente leitura: aderência, segurança, LGPD, custo</a:t>
            </a:r>
            <a:endParaRPr lang="en-US" sz="1600" dirty="0"/>
          </a:p>
        </p:txBody>
      </p:sp>
      <p:sp>
        <p:nvSpPr>
          <p:cNvPr id="35" name="Agente Governança / Docs"/>
          <p:cNvSpPr/>
          <p:nvPr/>
        </p:nvSpPr>
        <p:spPr>
          <a:xfrm>
            <a:off x="8046720" y="457200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/>
        </p:spPr>
      </p:sp>
      <p:sp>
        <p:nvSpPr>
          <p:cNvPr id="36" name="Governança / Docs círculo"/>
          <p:cNvSpPr/>
          <p:nvPr/>
        </p:nvSpPr>
        <p:spPr>
          <a:xfrm>
            <a:off x="8275320" y="4873752"/>
            <a:ext cx="777240" cy="77724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37" name="Governança / Docs ícone" descr="Governança / Doc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9630" y="5068062"/>
            <a:ext cx="388620" cy="38862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9235440" y="47091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Governança / Docs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Catálogo, lineage e lições aprendidas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Segregação de funções, como num time humano maduro</a:t>
            </a:r>
            <a:endParaRPr lang="en-US" sz="2800" dirty="0"/>
          </a:p>
        </p:txBody>
      </p:sp>
      <p:sp>
        <p:nvSpPr>
          <p:cNvPr id="3" name="Quem escreve não testa círculo"/>
          <p:cNvSpPr/>
          <p:nvPr/>
        </p:nvSpPr>
        <p:spPr>
          <a:xfrm>
            <a:off x="548640" y="1600200"/>
            <a:ext cx="914400" cy="914400"/>
          </a:xfrm>
          <a:prstGeom prst="ellipse">
            <a:avLst/>
          </a:prstGeom>
          <a:solidFill>
            <a:srgbClr val="070F26"/>
          </a:solidFill>
          <a:ln/>
        </p:spPr>
      </p:sp>
      <p:pic>
        <p:nvPicPr>
          <p:cNvPr id="4" name="Quem escreve não testa ícone" descr="Quem escreve não tes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Quem escreve não testa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20574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Engenheiros implementam; o QA, um agente separado, decide se passa.</a:t>
            </a:r>
            <a:endParaRPr lang="en-US" sz="1500" dirty="0"/>
          </a:p>
        </p:txBody>
      </p:sp>
      <p:sp>
        <p:nvSpPr>
          <p:cNvPr id="7" name="Quem testa não corrige círculo"/>
          <p:cNvSpPr/>
          <p:nvPr/>
        </p:nvSpPr>
        <p:spPr>
          <a:xfrm>
            <a:off x="548640" y="3063240"/>
            <a:ext cx="914400" cy="914400"/>
          </a:xfrm>
          <a:prstGeom prst="ellipse">
            <a:avLst/>
          </a:prstGeom>
          <a:solidFill>
            <a:srgbClr val="070F26"/>
          </a:solidFill>
          <a:ln/>
        </p:spPr>
      </p:sp>
      <p:pic>
        <p:nvPicPr>
          <p:cNvPr id="8" name="Quem testa não corrige ícone" descr="Quem testa não corri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3063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Quem testa não corrige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1737360" y="35204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 QA reprova com evidência e provável causa, sem propor patch. A correção volta ao autor.</a:t>
            </a:r>
            <a:endParaRPr lang="en-US" sz="1500" dirty="0"/>
          </a:p>
        </p:txBody>
      </p:sp>
      <p:sp>
        <p:nvSpPr>
          <p:cNvPr id="11" name="Quem revisa não edita círculo"/>
          <p:cNvSpPr/>
          <p:nvPr/>
        </p:nvSpPr>
        <p:spPr>
          <a:xfrm>
            <a:off x="548640" y="4526280"/>
            <a:ext cx="914400" cy="914400"/>
          </a:xfrm>
          <a:prstGeom prst="ellipse">
            <a:avLst/>
          </a:prstGeom>
          <a:solidFill>
            <a:srgbClr val="070F26"/>
          </a:solidFill>
          <a:ln/>
        </p:spPr>
      </p:sp>
      <p:pic>
        <p:nvPicPr>
          <p:cNvPr id="12" name="Quem revisa não edita ícone" descr="Quem revisa não edi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7548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37360" y="4526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Quem revisa não edita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1737360" y="4983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 Revisor tem só ferramentas de leitura. Seu único produto é o parecer.</a:t>
            </a:r>
            <a:endParaRPr lang="en-US" sz="1500" dirty="0"/>
          </a:p>
        </p:txBody>
      </p:sp>
      <p:sp>
        <p:nvSpPr>
          <p:cNvPr id="15" name="Loop de QA"/>
          <p:cNvSpPr/>
          <p:nvPr/>
        </p:nvSpPr>
        <p:spPr>
          <a:xfrm>
            <a:off x="7040880" y="160020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EEF3F9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36092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Loop automático de QA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7360920" y="25146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8E5A"/>
                </a:solidFill>
              </a:rPr>
              <a:t>1–3</a:t>
            </a:r>
            <a:endParaRPr lang="en-US" sz="4400" dirty="0"/>
          </a:p>
        </p:txBody>
      </p:sp>
      <p:sp>
        <p:nvSpPr>
          <p:cNvPr id="18" name="Text 13"/>
          <p:cNvSpPr txBox="1"/>
          <p:nvPr/>
        </p:nvSpPr>
        <p:spPr>
          <a:xfrm>
            <a:off x="9006840" y="25146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falhas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voltam direto ao agente autor, sem envolver o humano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360920" y="40233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372D"/>
                </a:solidFill>
              </a:rPr>
              <a:t>4ª</a:t>
            </a:r>
            <a:endParaRPr lang="en-US" sz="4400" dirty="0"/>
          </a:p>
        </p:txBody>
      </p:sp>
      <p:sp>
        <p:nvSpPr>
          <p:cNvPr id="20" name="Text 15"/>
          <p:cNvSpPr txBox="1"/>
          <p:nvPr/>
        </p:nvSpPr>
        <p:spPr>
          <a:xfrm>
            <a:off x="9006840" y="40233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falha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escala ao Operador com diagnóstico e opções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Fluxo Spec-Driven: do pedido à produção com três gates</a:t>
            </a:r>
            <a:endParaRPr lang="en-US" sz="2800" dirty="0"/>
          </a:p>
        </p:txBody>
      </p:sp>
      <p:sp>
        <p:nvSpPr>
          <p:cNvPr id="3" name="Etapa Pedido"/>
          <p:cNvSpPr/>
          <p:nvPr/>
        </p:nvSpPr>
        <p:spPr>
          <a:xfrm>
            <a:off x="548640" y="233172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070F2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Pedido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2918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Operador</a:t>
            </a:r>
            <a:endParaRPr lang="en-US" sz="1100" dirty="0"/>
          </a:p>
        </p:txBody>
      </p:sp>
      <p:sp>
        <p:nvSpPr>
          <p:cNvPr id="6" name="Etapa Spec"/>
          <p:cNvSpPr/>
          <p:nvPr/>
        </p:nvSpPr>
        <p:spPr>
          <a:xfrm>
            <a:off x="1764792" y="233172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070F2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764792" y="233172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Spec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719072" y="32918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Analista</a:t>
            </a:r>
            <a:endParaRPr lang="en-US" sz="1100" dirty="0"/>
          </a:p>
        </p:txBody>
      </p:sp>
      <p:sp>
        <p:nvSpPr>
          <p:cNvPr id="9" name="Gate G1"/>
          <p:cNvSpPr/>
          <p:nvPr/>
        </p:nvSpPr>
        <p:spPr>
          <a:xfrm>
            <a:off x="2980944" y="2423160"/>
            <a:ext cx="685800" cy="6858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80944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G1</a:t>
            </a:r>
            <a:endParaRPr lang="en-US" sz="1500" dirty="0"/>
          </a:p>
        </p:txBody>
      </p:sp>
      <p:sp>
        <p:nvSpPr>
          <p:cNvPr id="11" name="Etapa Design"/>
          <p:cNvSpPr/>
          <p:nvPr/>
        </p:nvSpPr>
        <p:spPr>
          <a:xfrm>
            <a:off x="3739896" y="233172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070F2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39896" y="233172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Design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94176" y="32918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Arquiteto</a:t>
            </a:r>
            <a:endParaRPr lang="en-US" sz="1100" dirty="0"/>
          </a:p>
        </p:txBody>
      </p:sp>
      <p:sp>
        <p:nvSpPr>
          <p:cNvPr id="14" name="Gate G2"/>
          <p:cNvSpPr/>
          <p:nvPr/>
        </p:nvSpPr>
        <p:spPr>
          <a:xfrm>
            <a:off x="4956048" y="2423160"/>
            <a:ext cx="685800" cy="6858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56048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G2</a:t>
            </a:r>
            <a:endParaRPr lang="en-US" sz="1500" dirty="0"/>
          </a:p>
        </p:txBody>
      </p:sp>
      <p:sp>
        <p:nvSpPr>
          <p:cNvPr id="16" name="Etapa Build"/>
          <p:cNvSpPr/>
          <p:nvPr/>
        </p:nvSpPr>
        <p:spPr>
          <a:xfrm>
            <a:off x="5715000" y="2331720"/>
            <a:ext cx="1280160" cy="868680"/>
          </a:xfrm>
          <a:prstGeom prst="roundRect">
            <a:avLst>
              <a:gd name="adj" fmla="val 10526"/>
            </a:avLst>
          </a:prstGeom>
          <a:solidFill>
            <a:srgbClr val="070F2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715000" y="23317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Build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3291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Ingestão · Transf. · BI</a:t>
            </a:r>
            <a:endParaRPr lang="en-US" sz="1100" dirty="0"/>
          </a:p>
        </p:txBody>
      </p:sp>
      <p:sp>
        <p:nvSpPr>
          <p:cNvPr id="19" name="Etapa QA"/>
          <p:cNvSpPr/>
          <p:nvPr/>
        </p:nvSpPr>
        <p:spPr>
          <a:xfrm>
            <a:off x="7068312" y="233172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070F2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68312" y="233172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QA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22592" y="32918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Data Quality</a:t>
            </a:r>
            <a:endParaRPr lang="en-US" sz="1100" dirty="0"/>
          </a:p>
        </p:txBody>
      </p:sp>
      <p:sp>
        <p:nvSpPr>
          <p:cNvPr id="22" name="Etapa Revisão"/>
          <p:cNvSpPr/>
          <p:nvPr/>
        </p:nvSpPr>
        <p:spPr>
          <a:xfrm>
            <a:off x="8284464" y="233172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070F2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84464" y="23317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Revisão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238744" y="3291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Revisor · Docs</a:t>
            </a:r>
            <a:endParaRPr lang="en-US" sz="1100" dirty="0"/>
          </a:p>
        </p:txBody>
      </p:sp>
      <p:sp>
        <p:nvSpPr>
          <p:cNvPr id="25" name="Gate G3"/>
          <p:cNvSpPr/>
          <p:nvPr/>
        </p:nvSpPr>
        <p:spPr>
          <a:xfrm>
            <a:off x="9592056" y="2423160"/>
            <a:ext cx="685800" cy="6858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592056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G3</a:t>
            </a:r>
            <a:endParaRPr lang="en-US" sz="1500" dirty="0"/>
          </a:p>
        </p:txBody>
      </p:sp>
      <p:sp>
        <p:nvSpPr>
          <p:cNvPr id="27" name="Etapa Prod"/>
          <p:cNvSpPr/>
          <p:nvPr/>
        </p:nvSpPr>
        <p:spPr>
          <a:xfrm>
            <a:off x="10351008" y="2331720"/>
            <a:ext cx="1051560" cy="868680"/>
          </a:xfrm>
          <a:prstGeom prst="roundRect">
            <a:avLst>
              <a:gd name="adj" fmla="val 10526"/>
            </a:avLst>
          </a:prstGeom>
          <a:solidFill>
            <a:srgbClr val="1E8E5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351008" y="233172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Prod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0305288" y="32918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CI/CD</a:t>
            </a:r>
            <a:endParaRPr lang="en-US" sz="1100" dirty="0"/>
          </a:p>
        </p:txBody>
      </p:sp>
      <p:sp>
        <p:nvSpPr>
          <p:cNvPr id="30" name="Loop QA"/>
          <p:cNvSpPr/>
          <p:nvPr/>
        </p:nvSpPr>
        <p:spPr>
          <a:xfrm>
            <a:off x="5989320" y="3794760"/>
            <a:ext cx="2423160" cy="457200"/>
          </a:xfrm>
          <a:prstGeom prst="roundRect">
            <a:avLst>
              <a:gd name="adj" fmla="val 16000"/>
            </a:avLst>
          </a:prstGeom>
          <a:solidFill>
            <a:srgbClr val="EEF3F9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89320" y="3794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↺ Falha no QA volta ao autor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7091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Nada é implementado sem G1 e G2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check_spec.py bloqueia tasks.md sem os dois gates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297680" y="47091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Mudança de escopo volta para a spec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spec ganha nova versão e passa de novo pelo G1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046720" y="47091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Produção só via CI/CD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nenhum agente faz merge ou deploy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 harness concentra 80% do trabalho de montar a squad</a:t>
            </a:r>
            <a:endParaRPr lang="en-US" sz="2800" dirty="0"/>
          </a:p>
        </p:txBody>
      </p:sp>
      <p:sp>
        <p:nvSpPr>
          <p:cNvPr id="3" name="Pilar harness Repositório como fonte de verdade"/>
          <p:cNvSpPr/>
          <p:nvPr/>
        </p:nvSpPr>
        <p:spPr>
          <a:xfrm>
            <a:off x="548640" y="146304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/>
        </p:spPr>
      </p:sp>
      <p:sp>
        <p:nvSpPr>
          <p:cNvPr id="4" name="Repositório como fonte de verdade círculo"/>
          <p:cNvSpPr/>
          <p:nvPr/>
        </p:nvSpPr>
        <p:spPr>
          <a:xfrm>
            <a:off x="822960" y="1737360"/>
            <a:ext cx="777240" cy="77724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5" name="Repositório como fonte de verdade ícone" descr="Repositório como fonte de verda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93167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37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Repositório como fonte de verdade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33172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AGENTS.md: a constituição da squad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Templates de spec, design e tasks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Data contracts versionados com o código</a:t>
            </a:r>
            <a:endParaRPr lang="en-US" sz="1400" dirty="0"/>
          </a:p>
        </p:txBody>
      </p:sp>
      <p:sp>
        <p:nvSpPr>
          <p:cNvPr id="8" name="Pilar harness Agentes com escopo restrito"/>
          <p:cNvSpPr/>
          <p:nvPr/>
        </p:nvSpPr>
        <p:spPr>
          <a:xfrm>
            <a:off x="6172200" y="146304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/>
        </p:spPr>
      </p:sp>
      <p:sp>
        <p:nvSpPr>
          <p:cNvPr id="9" name="Agentes com escopo restrito círculo"/>
          <p:cNvSpPr/>
          <p:nvPr/>
        </p:nvSpPr>
        <p:spPr>
          <a:xfrm>
            <a:off x="6446520" y="1737360"/>
            <a:ext cx="777240" cy="77724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10" name="Agentes com escopo restrito ícone" descr="Agentes com escopo restri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93167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06640" y="1737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Agentes com escopo restrito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406640" y="233172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Ferramentas permitidas por agente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Skills por especialidade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Uma branch por agente</a:t>
            </a:r>
            <a:endParaRPr lang="en-US" sz="1400" dirty="0"/>
          </a:p>
        </p:txBody>
      </p:sp>
      <p:sp>
        <p:nvSpPr>
          <p:cNvPr id="13" name="Pilar harness Validação automática"/>
          <p:cNvSpPr/>
          <p:nvPr/>
        </p:nvSpPr>
        <p:spPr>
          <a:xfrm>
            <a:off x="548640" y="370332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/>
        </p:spPr>
      </p:sp>
      <p:sp>
        <p:nvSpPr>
          <p:cNvPr id="14" name="Validação automática círculo"/>
          <p:cNvSpPr/>
          <p:nvPr/>
        </p:nvSpPr>
        <p:spPr>
          <a:xfrm>
            <a:off x="822960" y="3977640"/>
            <a:ext cx="777240" cy="77724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15" name="Validação automática ícone" descr="Validação automáti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17195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3977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Validação automática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783080" y="457200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Hook bloqueia edição fora do padrão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Testes derivados do contrato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Casos de ouro contra regressão</a:t>
            </a:r>
            <a:endParaRPr lang="en-US" sz="1400" dirty="0"/>
          </a:p>
        </p:txBody>
      </p:sp>
      <p:sp>
        <p:nvSpPr>
          <p:cNvPr id="18" name="Pilar harness Acesso e segurança"/>
          <p:cNvSpPr/>
          <p:nvPr/>
        </p:nvSpPr>
        <p:spPr>
          <a:xfrm>
            <a:off x="6172200" y="370332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/>
        </p:spPr>
      </p:sp>
      <p:sp>
        <p:nvSpPr>
          <p:cNvPr id="19" name="Acesso e segurança círculo"/>
          <p:cNvSpPr/>
          <p:nvPr/>
        </p:nvSpPr>
        <p:spPr>
          <a:xfrm>
            <a:off x="6446520" y="3977640"/>
            <a:ext cx="777240" cy="77724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20" name="Acesso e segurança ícone" descr="Acesso e seguranç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4171950"/>
            <a:ext cx="388620" cy="3886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3977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Acesso e segurança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406640" y="457200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Só dev/sandbox, dados mascarados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Classificação LGPD por coluna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Credenciais via gerenciador de segredos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Na prática: o harness bloqueia antes de o humano precisar ver</a:t>
            </a:r>
            <a:endParaRPr lang="en-US" sz="2800" dirty="0"/>
          </a:p>
        </p:txBody>
      </p:sp>
      <p:sp>
        <p:nvSpPr>
          <p:cNvPr id="3" name="Exemplo hook"/>
          <p:cNvSpPr/>
          <p:nvPr/>
        </p:nvSpPr>
        <p:spPr>
          <a:xfrm>
            <a:off x="548640" y="1508760"/>
            <a:ext cx="6035040" cy="4251960"/>
          </a:xfrm>
          <a:prstGeom prst="roundRect">
            <a:avLst>
              <a:gd name="adj" fmla="val 2581"/>
            </a:avLst>
          </a:prstGeom>
          <a:solidFill>
            <a:srgbClr val="070F2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Agente tenta criar pipelines/gold/Vendas/receita.sql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86000"/>
            <a:ext cx="5486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Harness bloqueou a alteração.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Corrija antes de continuar: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naming: 2 problema(s)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domínio 'Vendas' inválido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nome deve seguir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&lt;camada&gt;_&lt;dominio&gt;__&lt;entidade&gt;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5166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O agente recebe o erro e corrige sozinho.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995160" y="1508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Validadores do template</a:t>
            </a:r>
            <a:endParaRPr lang="en-US" sz="2000" dirty="0"/>
          </a:p>
        </p:txBody>
      </p:sp>
      <p:pic>
        <p:nvPicPr>
          <p:cNvPr id="8" name="Check validate_naming.py" descr="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2176272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98080" y="21031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validate_naming.py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convenção de tabelas, colunas, specs e contratos</a:t>
            </a:r>
            <a:endParaRPr lang="en-US" sz="1500" dirty="0"/>
          </a:p>
        </p:txBody>
      </p:sp>
      <p:pic>
        <p:nvPicPr>
          <p:cNvPr id="10" name="Check check_contracts.py" descr="o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09067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98080" y="30175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check_contracts.py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todo pipeline silver/gold com contrato; PII classificada</a:t>
            </a:r>
            <a:endParaRPr lang="en-US" sz="1500" dirty="0"/>
          </a:p>
        </p:txBody>
      </p:sp>
      <p:pic>
        <p:nvPicPr>
          <p:cNvPr id="12" name="Check check_spec.py" descr="o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4005072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498080" y="39319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check_spec.py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nenhuma tarefa sem G1 e G2; spec aprovada sem dúvidas</a:t>
            </a:r>
            <a:endParaRPr lang="en-US" sz="1500" dirty="0"/>
          </a:p>
        </p:txBody>
      </p:sp>
      <p:pic>
        <p:nvPicPr>
          <p:cNvPr id="14" name="Check test_golden.py" descr="o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4919472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498080" y="48463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test_golden.py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SQL real contra casos de ouro e checagens do contrato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6995160" y="54406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Rodam em três lugares: no hook de cada edição do agente, localmente e no CI do GitHub.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Exemplo ponta a ponta: receita diária por loja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Casos de ouro que a squad precisa acertar</a:t>
            </a:r>
            <a:endParaRPr lang="en-US" sz="1800" dirty="0"/>
          </a:p>
        </p:txBody>
      </p:sp>
      <p:sp>
        <p:nvSpPr>
          <p:cNvPr id="4" name="Caso 1"/>
          <p:cNvSpPr/>
          <p:nvPr/>
        </p:nvSpPr>
        <p:spPr>
          <a:xfrm>
            <a:off x="548640" y="1965960"/>
            <a:ext cx="5120640" cy="640080"/>
          </a:xfrm>
          <a:prstGeom prst="roundRect">
            <a:avLst>
              <a:gd name="adj" fmla="val 17143"/>
            </a:avLst>
          </a:prstGeom>
          <a:solidFill>
            <a:srgbClr val="EEF3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011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Pedido cancelado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fica fora de todas as métricas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20116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RN-01</a:t>
            </a:r>
            <a:endParaRPr lang="en-US" sz="1200" dirty="0"/>
          </a:p>
        </p:txBody>
      </p:sp>
      <p:sp>
        <p:nvSpPr>
          <p:cNvPr id="7" name="Caso 2"/>
          <p:cNvSpPr/>
          <p:nvPr/>
        </p:nvSpPr>
        <p:spPr>
          <a:xfrm>
            <a:off x="548640" y="2715768"/>
            <a:ext cx="5120640" cy="640080"/>
          </a:xfrm>
          <a:prstGeom prst="roundRect">
            <a:avLst>
              <a:gd name="adj" fmla="val 17143"/>
            </a:avLst>
          </a:prstGeom>
          <a:solidFill>
            <a:srgbClr val="EEF3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7614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Pedido reenviado com desconto corrigido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vale a versão mais recente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76148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RN-02</a:t>
            </a:r>
            <a:endParaRPr lang="en-US" sz="1200" dirty="0"/>
          </a:p>
        </p:txBody>
      </p:sp>
      <p:sp>
        <p:nvSpPr>
          <p:cNvPr id="10" name="Caso 3"/>
          <p:cNvSpPr/>
          <p:nvPr/>
        </p:nvSpPr>
        <p:spPr>
          <a:xfrm>
            <a:off x="548640" y="3465576"/>
            <a:ext cx="5120640" cy="640080"/>
          </a:xfrm>
          <a:prstGeom prst="roundRect">
            <a:avLst>
              <a:gd name="adj" fmla="val 17143"/>
            </a:avLst>
          </a:prstGeom>
          <a:solidFill>
            <a:srgbClr val="EEF3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5112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Pago e cancelado depois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sai do dia original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51129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RN-01+02</a:t>
            </a:r>
            <a:endParaRPr lang="en-US" sz="1200" dirty="0"/>
          </a:p>
        </p:txBody>
      </p:sp>
      <p:sp>
        <p:nvSpPr>
          <p:cNvPr id="13" name="Caso 4"/>
          <p:cNvSpPr/>
          <p:nvPr/>
        </p:nvSpPr>
        <p:spPr>
          <a:xfrm>
            <a:off x="548640" y="4215384"/>
            <a:ext cx="5120640" cy="640080"/>
          </a:xfrm>
          <a:prstGeom prst="roundRect">
            <a:avLst>
              <a:gd name="adj" fmla="val 17143"/>
            </a:avLst>
          </a:prstGeom>
          <a:solidFill>
            <a:srgbClr val="EEF3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26110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Feito às 23:50, carregado no dia seguinte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conta no dia do pedido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426110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RN-03</a:t>
            </a:r>
            <a:endParaRPr lang="en-US" sz="1200" dirty="0"/>
          </a:p>
        </p:txBody>
      </p:sp>
      <p:sp>
        <p:nvSpPr>
          <p:cNvPr id="16" name="Caso 5"/>
          <p:cNvSpPr/>
          <p:nvPr/>
        </p:nvSpPr>
        <p:spPr>
          <a:xfrm>
            <a:off x="548640" y="4965192"/>
            <a:ext cx="5120640" cy="640080"/>
          </a:xfrm>
          <a:prstGeom prst="roundRect">
            <a:avLst>
              <a:gd name="adj" fmla="val 17143"/>
            </a:avLst>
          </a:prstGeom>
          <a:solidFill>
            <a:srgbClr val="EEF3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501091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Desconto nulo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tratado como zero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501091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M-01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1463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Resultado esperado na gold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965960"/>
          <a:ext cx="54864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1005840"/>
                <a:gridCol w="146304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Loja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F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F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Pedidos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F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Rec. líquida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F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F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01/10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R$ 140,00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R$ 70,00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02/10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R$ 75,00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R$ 37,50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L02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01/10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R$ 160,00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R$ 160,00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L02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02/10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R$ 65,00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R$ 65,00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ste mutação"/>
          <p:cNvSpPr/>
          <p:nvPr/>
        </p:nvSpPr>
        <p:spPr>
          <a:xfrm>
            <a:off x="6126480" y="434340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070F2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00800" y="44805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Prova de que o harness funciona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Removida a regra de cancelados no SQL, o teste golden reprova na hora. Regra restaurada: 6 de 6 testes passam.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Três fases: começar pequeno e codificar o aprendizado</a:t>
            </a:r>
            <a:endParaRPr lang="en-US" sz="2800" dirty="0"/>
          </a:p>
        </p:txBody>
      </p:sp>
      <p:sp>
        <p:nvSpPr>
          <p:cNvPr id="3" name="Fase 1"/>
          <p:cNvSpPr/>
          <p:nvPr/>
        </p:nvSpPr>
        <p:spPr>
          <a:xfrm>
            <a:off x="548640" y="160020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EEF3F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Fase 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40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Piloto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26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 agentes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9476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Analista de spec, Eng. de Transformação e QA.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O Operador faz o resto e registra cada correção.</a:t>
            </a:r>
            <a:endParaRPr lang="en-US" sz="1400" dirty="0"/>
          </a:p>
        </p:txBody>
      </p:sp>
      <p:sp>
        <p:nvSpPr>
          <p:cNvPr id="8" name="Fase 2"/>
          <p:cNvSpPr/>
          <p:nvPr/>
        </p:nvSpPr>
        <p:spPr>
          <a:xfrm>
            <a:off x="4343400" y="160020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EEF3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Fase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240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Consolidação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926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 agentes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79476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Entram Revisor e Orquestrador.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Correções do piloto viram regras no harness.</a:t>
            </a:r>
            <a:endParaRPr lang="en-US" sz="1400" dirty="0"/>
          </a:p>
        </p:txBody>
      </p:sp>
      <p:sp>
        <p:nvSpPr>
          <p:cNvPr id="13" name="Fase 3"/>
          <p:cNvSpPr/>
          <p:nvPr/>
        </p:nvSpPr>
        <p:spPr>
          <a:xfrm>
            <a:off x="8138160" y="160020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070F2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5820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Fase 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2240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Squad completa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2926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9 agentes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79476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Paralelismo com uma branch por agente.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O Operador atua só nos gates G1, G2 e G3.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Como saber se está funcionando — e o que pode dar errado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Métricas de saúde</a:t>
            </a:r>
            <a:endParaRPr lang="en-US" sz="2000" dirty="0"/>
          </a:p>
        </p:txBody>
      </p:sp>
      <p:sp>
        <p:nvSpPr>
          <p:cNvPr id="4" name="Lead time círculo"/>
          <p:cNvSpPr/>
          <p:nvPr/>
        </p:nvSpPr>
        <p:spPr>
          <a:xfrm>
            <a:off x="548640" y="2011680"/>
            <a:ext cx="594360" cy="59436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5" name="Lead time ícone" descr="Lead ti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216027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0116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Lead time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 spec aprovada até a produção</a:t>
            </a:r>
            <a:endParaRPr lang="en-US" sz="1400" dirty="0"/>
          </a:p>
        </p:txBody>
      </p:sp>
      <p:sp>
        <p:nvSpPr>
          <p:cNvPr id="7" name="Aprovação de primeira círculo"/>
          <p:cNvSpPr/>
          <p:nvPr/>
        </p:nvSpPr>
        <p:spPr>
          <a:xfrm>
            <a:off x="548640" y="2788920"/>
            <a:ext cx="594360" cy="59436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8" name="Aprovação de primeira ícone" descr="Aprovação de primei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" y="293751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7889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Aprovação de primeira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nos gates G1, G2 e G3</a:t>
            </a:r>
            <a:endParaRPr lang="en-US" sz="1400" dirty="0"/>
          </a:p>
        </p:txBody>
      </p:sp>
      <p:sp>
        <p:nvSpPr>
          <p:cNvPr id="10" name="Retrabalho círculo"/>
          <p:cNvSpPr/>
          <p:nvPr/>
        </p:nvSpPr>
        <p:spPr>
          <a:xfrm>
            <a:off x="548640" y="3566160"/>
            <a:ext cx="594360" cy="59436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11" name="Retrabalho ícone" descr="Retrabalh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3714750"/>
            <a:ext cx="297180" cy="2971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35661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Retrabalho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ciclos de QA por feature</a:t>
            </a:r>
            <a:endParaRPr lang="en-US" sz="1400" dirty="0"/>
          </a:p>
        </p:txBody>
      </p:sp>
      <p:sp>
        <p:nvSpPr>
          <p:cNvPr id="13" name="Custo por entrega círculo"/>
          <p:cNvSpPr/>
          <p:nvPr/>
        </p:nvSpPr>
        <p:spPr>
          <a:xfrm>
            <a:off x="548640" y="4343400"/>
            <a:ext cx="594360" cy="59436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14" name="Custo por entrega ícone" descr="Custo por entreg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" y="4491990"/>
            <a:ext cx="297180" cy="2971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43434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Custo por entrega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tokens + compute</a:t>
            </a:r>
            <a:endParaRPr lang="en-US" sz="1400" dirty="0"/>
          </a:p>
        </p:txBody>
      </p:sp>
      <p:sp>
        <p:nvSpPr>
          <p:cNvPr id="16" name="Incidentes círculo"/>
          <p:cNvSpPr/>
          <p:nvPr/>
        </p:nvSpPr>
        <p:spPr>
          <a:xfrm>
            <a:off x="548640" y="5120640"/>
            <a:ext cx="594360" cy="594360"/>
          </a:xfrm>
          <a:prstGeom prst="ellipse">
            <a:avLst/>
          </a:prstGeom>
          <a:solidFill>
            <a:srgbClr val="0072BC"/>
          </a:solidFill>
          <a:ln/>
        </p:spPr>
      </p:sp>
      <p:pic>
        <p:nvPicPr>
          <p:cNvPr id="17" name="Incidentes ícone" descr="Incident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" y="5269230"/>
            <a:ext cx="297180" cy="29718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25880" y="5120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Incidentes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qualidade em produção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6126480" y="1463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Riscos e mitigação</a:t>
            </a:r>
            <a:endParaRPr lang="en-US" sz="2000" dirty="0"/>
          </a:p>
        </p:txBody>
      </p:sp>
      <p:sp>
        <p:nvSpPr>
          <p:cNvPr id="20" name="Risco 1"/>
          <p:cNvSpPr/>
          <p:nvPr/>
        </p:nvSpPr>
        <p:spPr>
          <a:xfrm>
            <a:off x="6126480" y="2011680"/>
            <a:ext cx="5486400" cy="841248"/>
          </a:xfrm>
          <a:prstGeom prst="roundRect">
            <a:avLst>
              <a:gd name="adj" fmla="val 13043"/>
            </a:avLst>
          </a:prstGeom>
          <a:solidFill>
            <a:srgbClr val="EEF3F9"/>
          </a:solidFill>
          <a:ln/>
        </p:spPr>
      </p:sp>
      <p:pic>
        <p:nvPicPr>
          <p:cNvPr id="21" name="Alerta 1" descr="risc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249424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858000" y="206654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Regra de negócio inventada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Analista é obrigado a listar dúvidas; spec com dúvida aberta não passa no G1</a:t>
            </a:r>
            <a:endParaRPr lang="en-US" sz="1400" dirty="0"/>
          </a:p>
        </p:txBody>
      </p:sp>
      <p:sp>
        <p:nvSpPr>
          <p:cNvPr id="23" name="Risco 2"/>
          <p:cNvSpPr/>
          <p:nvPr/>
        </p:nvSpPr>
        <p:spPr>
          <a:xfrm>
            <a:off x="6126480" y="2980944"/>
            <a:ext cx="5486400" cy="841248"/>
          </a:xfrm>
          <a:prstGeom prst="roundRect">
            <a:avLst>
              <a:gd name="adj" fmla="val 13043"/>
            </a:avLst>
          </a:prstGeom>
          <a:solidFill>
            <a:srgbClr val="EEF3F9"/>
          </a:solidFill>
          <a:ln/>
        </p:spPr>
      </p:sp>
      <p:pic>
        <p:nvPicPr>
          <p:cNvPr id="24" name="Alerta 2" descr="risc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218688"/>
            <a:ext cx="365760" cy="36576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858000" y="303580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Humano vira gargalo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Confiar nos testes; revisar intenção, não sintaxe</a:t>
            </a:r>
            <a:endParaRPr lang="en-US" sz="1400" dirty="0"/>
          </a:p>
        </p:txBody>
      </p:sp>
      <p:sp>
        <p:nvSpPr>
          <p:cNvPr id="26" name="Risco 3"/>
          <p:cNvSpPr/>
          <p:nvPr/>
        </p:nvSpPr>
        <p:spPr>
          <a:xfrm>
            <a:off x="6126480" y="3950208"/>
            <a:ext cx="5486400" cy="841248"/>
          </a:xfrm>
          <a:prstGeom prst="roundRect">
            <a:avLst>
              <a:gd name="adj" fmla="val 13043"/>
            </a:avLst>
          </a:prstGeom>
          <a:solidFill>
            <a:srgbClr val="EEF3F9"/>
          </a:solidFill>
          <a:ln/>
        </p:spPr>
      </p:sp>
      <p:pic>
        <p:nvPicPr>
          <p:cNvPr id="27" name="Alerta 3" descr="risc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4187952"/>
            <a:ext cx="365760" cy="36576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6858000" y="4005072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Custo descontrolado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Orçamento por tarefa e clusters de dev pequenos</a:t>
            </a:r>
            <a:endParaRPr lang="en-US" sz="1400" dirty="0"/>
          </a:p>
        </p:txBody>
      </p:sp>
      <p:sp>
        <p:nvSpPr>
          <p:cNvPr id="29" name="Risco 4"/>
          <p:cNvSpPr/>
          <p:nvPr/>
        </p:nvSpPr>
        <p:spPr>
          <a:xfrm>
            <a:off x="6126480" y="4919472"/>
            <a:ext cx="5486400" cy="841248"/>
          </a:xfrm>
          <a:prstGeom prst="roundRect">
            <a:avLst>
              <a:gd name="adj" fmla="val 13043"/>
            </a:avLst>
          </a:prstGeom>
          <a:solidFill>
            <a:srgbClr val="EEF3F9"/>
          </a:solidFill>
          <a:ln/>
        </p:spPr>
      </p:sp>
      <p:pic>
        <p:nvPicPr>
          <p:cNvPr id="30" name="Alerta 4" descr="risco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5157216"/>
            <a:ext cx="365760" cy="36576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6858000" y="4974336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Dados sensíveis expostos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Só dev/sandbox com dados mascarados; PII classificada no contrato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Próximos passos</a:t>
            </a:r>
            <a:endParaRPr lang="en-US" sz="2800" dirty="0"/>
          </a:p>
        </p:txBody>
      </p:sp>
      <p:sp>
        <p:nvSpPr>
          <p:cNvPr id="3" name="Passo 1"/>
          <p:cNvSpPr/>
          <p:nvPr/>
        </p:nvSpPr>
        <p:spPr>
          <a:xfrm>
            <a:off x="548640" y="1508760"/>
            <a:ext cx="868680" cy="86868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46304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Escolher a frente piloto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uma demanda real, de porte médio, com dono de negócio disponível</a:t>
            </a:r>
            <a:endParaRPr lang="en-US" sz="2000" dirty="0"/>
          </a:p>
        </p:txBody>
      </p:sp>
      <p:sp>
        <p:nvSpPr>
          <p:cNvPr id="6" name="Passo 2"/>
          <p:cNvSpPr/>
          <p:nvPr/>
        </p:nvSpPr>
        <p:spPr>
          <a:xfrm>
            <a:off x="548640" y="2743200"/>
            <a:ext cx="868680" cy="86868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743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69748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Adaptar o template à plataforma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buscar "PLATAFORMA:" no repositório e ligar a stack do cliente</a:t>
            </a:r>
            <a:endParaRPr lang="en-US" sz="2000" dirty="0"/>
          </a:p>
        </p:txBody>
      </p:sp>
      <p:sp>
        <p:nvSpPr>
          <p:cNvPr id="9" name="Passo 3"/>
          <p:cNvSpPr/>
          <p:nvPr/>
        </p:nvSpPr>
        <p:spPr>
          <a:xfrm>
            <a:off x="548640" y="3977640"/>
            <a:ext cx="868680" cy="86868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977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93192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Rodar a primeira feature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com 3 agentes, medindo lead time e retrabalho desde o primeiro dia</a:t>
            </a:r>
            <a:endParaRPr lang="en-US" sz="2000" dirty="0"/>
          </a:p>
        </p:txBody>
      </p:sp>
      <p:sp>
        <p:nvSpPr>
          <p:cNvPr id="12" name="Repositório"/>
          <p:cNvSpPr/>
          <p:nvPr/>
        </p:nvSpPr>
        <p:spPr>
          <a:xfrm>
            <a:off x="8001000" y="1508760"/>
            <a:ext cx="3611880" cy="3337560"/>
          </a:xfrm>
          <a:prstGeom prst="roundRect">
            <a:avLst>
              <a:gd name="adj" fmla="val 3288"/>
            </a:avLst>
          </a:prstGeom>
          <a:solidFill>
            <a:srgbClr val="13234A"/>
          </a:solidFill>
          <a:ln/>
        </p:spPr>
      </p:sp>
      <p:sp>
        <p:nvSpPr>
          <p:cNvPr id="13" name="GitHub círculo"/>
          <p:cNvSpPr/>
          <p:nvPr/>
        </p:nvSpPr>
        <p:spPr>
          <a:xfrm>
            <a:off x="8321040" y="17830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GitHub ícone" descr="GitH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6780" y="1988820"/>
            <a:ext cx="411480" cy="4114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2743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Template pronto para uso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3154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github.com/RGMThech/agentic-data-squad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3840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9 agentes · 4 skills · validadores · CI · feature de exemplo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T DATA Squad">
  <a:themeElements>
    <a:clrScheme name="NTT DATA Squad">
      <a:dk1>
        <a:srgbClr val="070F26"/>
      </a:dk1>
      <a:lt1>
        <a:srgbClr val="FFFFFF"/>
      </a:lt1>
      <a:dk2>
        <a:srgbClr val="1B2A4A"/>
      </a:dk2>
      <a:lt2>
        <a:srgbClr val="EEF3F9"/>
      </a:lt2>
      <a:accent1>
        <a:srgbClr val="0072BC"/>
      </a:accent1>
      <a:accent2>
        <a:srgbClr val="6CACE4"/>
      </a:accent2>
      <a:accent3>
        <a:srgbClr val="F2A900"/>
      </a:accent3>
      <a:accent4>
        <a:srgbClr val="1E8E5A"/>
      </a:accent4>
      <a:accent5>
        <a:srgbClr val="C8372D"/>
      </a:accent5>
      <a:accent6>
        <a:srgbClr val="5A6B85"/>
      </a:accent6>
      <a:hlink>
        <a:srgbClr val="0072BC"/>
      </a:hlink>
      <a:folHlink>
        <a:srgbClr val="5A6B85"/>
      </a:folHlink>
    </a:clrScheme>
    <a:fontScheme name="NTT DATA Squa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NTT DATA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Squad Agêntica de Data Analytics</dc:title>
  <dc:subject>PptxGenJS Presentation</dc:subject>
  <dc:creator>Rodrigo — NTT DATA Data &amp; AI</dc:creator>
  <cp:lastModifiedBy>Rodrigo — NTT DATA Data &amp; AI</cp:lastModifiedBy>
  <cp:revision>1</cp:revision>
  <dcterms:created xsi:type="dcterms:W3CDTF">2026-10-29T19:47:38Z</dcterms:created>
  <dcterms:modified xsi:type="dcterms:W3CDTF">2026-10-29T19:47:38Z</dcterms:modified>
</cp:coreProperties>
</file>